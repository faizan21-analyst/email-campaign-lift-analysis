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4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9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8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17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0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6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13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0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76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466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542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40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413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4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97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A6269E4-6FB6-4C14-BE75-D52B1FFCF6F9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1D3A0D-90FB-45BF-A593-6134C1256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1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0327-420A-1F0F-1DAD-5738CF705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📊 A/B Test Report: Personalized vs. Generic Email Campaign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69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7583-EA22-7D5D-7C42-237069B1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79D5-1103-2B45-3801-11037302B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30477"/>
            <a:ext cx="10018713" cy="4060723"/>
          </a:xfrm>
        </p:spPr>
        <p:txBody>
          <a:bodyPr/>
          <a:lstStyle/>
          <a:p>
            <a:r>
              <a:rPr lang="en-US" dirty="0"/>
              <a:t>Our goal was to evaluate whether </a:t>
            </a:r>
            <a:r>
              <a:rPr lang="en-US" b="1" dirty="0"/>
              <a:t>personalized emails</a:t>
            </a:r>
            <a:r>
              <a:rPr lang="en-US" dirty="0"/>
              <a:t> perform better than </a:t>
            </a:r>
            <a:r>
              <a:rPr lang="en-US" b="1" dirty="0"/>
              <a:t>generic emails</a:t>
            </a:r>
            <a:r>
              <a:rPr lang="en-US" dirty="0"/>
              <a:t> in driving customer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67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1D9D-3BE0-697D-60CF-EE2A013B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Test Setup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B924-64AF-CC03-EEF5-BCBF5A04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Group A (Generic Email):</a:t>
            </a:r>
            <a:r>
              <a:rPr lang="en-US" dirty="0"/>
              <a:t> 1,627 customers</a:t>
            </a:r>
          </a:p>
          <a:p>
            <a:r>
              <a:rPr lang="en-US" b="1" dirty="0"/>
              <a:t>Group B (Personalized Email):</a:t>
            </a:r>
            <a:r>
              <a:rPr lang="en-US" dirty="0"/>
              <a:t> 431 customers</a:t>
            </a:r>
          </a:p>
          <a:p>
            <a:r>
              <a:rPr lang="en-US" dirty="0"/>
              <a:t>Metric: </a:t>
            </a:r>
            <a:r>
              <a:rPr lang="en-US" b="1" dirty="0"/>
              <a:t>Response Rate</a:t>
            </a:r>
            <a:r>
              <a:rPr lang="en-US" dirty="0"/>
              <a:t> (percentage of customers who replied or took action)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23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13B9-912E-F57C-D9C4-838D8BC5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Key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AAB4-EACA-B5CD-2FAA-440741A2E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6787"/>
            <a:ext cx="10018713" cy="45425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✅ </a:t>
            </a:r>
            <a:r>
              <a:rPr lang="en-US" b="1" dirty="0"/>
              <a:t>Response Rates</a:t>
            </a:r>
            <a:endParaRPr lang="en-US" dirty="0"/>
          </a:p>
          <a:p>
            <a:r>
              <a:rPr lang="en-US" dirty="0"/>
              <a:t>Generic Email: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8.48%</a:t>
            </a:r>
            <a:endParaRPr lang="en-US" b="1" dirty="0"/>
          </a:p>
          <a:p>
            <a:r>
              <a:rPr lang="en-US" dirty="0"/>
              <a:t>Personalized Email: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40.60</a:t>
            </a:r>
            <a:r>
              <a:rPr lang="en-US" b="1" dirty="0"/>
              <a:t>%</a:t>
            </a:r>
            <a:endParaRPr lang="en-US" dirty="0"/>
          </a:p>
          <a:p>
            <a:r>
              <a:rPr lang="en-US" dirty="0"/>
              <a:t>📈 </a:t>
            </a:r>
            <a:r>
              <a:rPr lang="en-US" b="1" dirty="0"/>
              <a:t>Impact of Personalization</a:t>
            </a:r>
            <a:endParaRPr lang="en-US" dirty="0"/>
          </a:p>
          <a:p>
            <a:r>
              <a:rPr lang="en-US" b="1" dirty="0"/>
              <a:t>Absolute Increase (Lift):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32.1</a:t>
            </a:r>
            <a:r>
              <a:rPr lang="en-US" dirty="0"/>
              <a:t> percentage points</a:t>
            </a:r>
          </a:p>
          <a:p>
            <a:r>
              <a:rPr lang="en-US" b="1" dirty="0"/>
              <a:t>Relative Increase:</a:t>
            </a:r>
            <a:r>
              <a:rPr lang="en-US" dirty="0"/>
              <a:t> </a:t>
            </a:r>
            <a:r>
              <a:rPr lang="en-US" b="1" dirty="0"/>
              <a:t>+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379</a:t>
            </a:r>
            <a:r>
              <a:rPr lang="en-US" dirty="0"/>
              <a:t>% higher than generic emails</a:t>
            </a:r>
          </a:p>
          <a:p>
            <a:r>
              <a:rPr lang="en-US" dirty="0"/>
              <a:t>📊 </a:t>
            </a:r>
            <a:r>
              <a:rPr lang="en-US" b="1" dirty="0"/>
              <a:t>Confidence Interval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r>
              <a:rPr lang="en-US" b="1" dirty="0"/>
              <a:t>%)</a:t>
            </a:r>
            <a:br>
              <a:rPr lang="en-US" dirty="0"/>
            </a:br>
            <a:r>
              <a:rPr lang="en-US" dirty="0"/>
              <a:t>We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r>
              <a:rPr lang="en-US" dirty="0"/>
              <a:t>% confident that personalization improves responses by </a:t>
            </a:r>
            <a:r>
              <a:rPr lang="en-US" b="1" dirty="0"/>
              <a:t>between +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27.5</a:t>
            </a:r>
            <a:r>
              <a:rPr lang="en-US" b="1" dirty="0"/>
              <a:t>% and +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36.9</a:t>
            </a:r>
            <a:r>
              <a:rPr lang="en-US" b="1" dirty="0"/>
              <a:t>%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means the results are </a:t>
            </a:r>
            <a:r>
              <a:rPr lang="en-US" b="1" dirty="0"/>
              <a:t>statistically significant</a:t>
            </a:r>
            <a:r>
              <a:rPr lang="en-US" dirty="0"/>
              <a:t> (not due to chance).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89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A0F2-2153-E128-7BF2-CF11D51F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Business Implications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36DEEE-5A26-08FA-1076-D1D95E717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6326" y="2019042"/>
            <a:ext cx="1049332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Engagement: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Personalized emails are nearly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times more effective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generic emails.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Potential: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such a large increase in engagement, personalization can lead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sales conversions and customer loyalty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Rolling out personalized email campaigns at scale could bring a major uplift in marketing ROI.</a:t>
            </a:r>
          </a:p>
        </p:txBody>
      </p:sp>
    </p:spTree>
    <p:extLst>
      <p:ext uri="{BB962C8B-B14F-4D97-AF65-F5344CB8AC3E}">
        <p14:creationId xmlns:p14="http://schemas.microsoft.com/office/powerpoint/2010/main" val="317825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5201-21F1-3221-71A1-54064E3F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Recommendations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8D04-E65A-D5B9-171E-0EB90E9A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🔹 </a:t>
            </a:r>
            <a:r>
              <a:rPr lang="en-US" b="1" dirty="0"/>
              <a:t>Adopt Personalization as Standard:</a:t>
            </a:r>
            <a:r>
              <a:rPr lang="en-US" dirty="0"/>
              <a:t> Shift majority of email campaigns to personalized messaging.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Segment Customers Further:</a:t>
            </a:r>
            <a:r>
              <a:rPr lang="en-US" dirty="0"/>
              <a:t> Personalization works — test more granular segments (e.g., by demographics, purchase history).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Automate Personalization:</a:t>
            </a:r>
            <a:r>
              <a:rPr lang="en-US" dirty="0"/>
              <a:t> Use CRM + AI tools to scale personalized campaigns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075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4054-8865-F820-0099-7710FE0C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BA2FD-FC41-7BCF-E50F-513C6312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Personalized emails are a </a:t>
            </a:r>
            <a:r>
              <a:rPr lang="en-US" b="1" dirty="0"/>
              <a:t>clear winner</a:t>
            </a:r>
            <a:r>
              <a:rPr lang="en-US" dirty="0"/>
              <a:t> over generic emails.</a:t>
            </a:r>
            <a:br>
              <a:rPr lang="en-US" dirty="0"/>
            </a:br>
            <a:r>
              <a:rPr lang="en-US" dirty="0"/>
              <a:t>They generate </a:t>
            </a:r>
            <a:r>
              <a:rPr lang="en-US" b="1" dirty="0"/>
              <a:t>over 4x more responses</a:t>
            </a:r>
            <a:r>
              <a:rPr lang="en-US" dirty="0"/>
              <a:t>, with </a:t>
            </a:r>
            <a:r>
              <a:rPr lang="en-US" b="1" dirty="0"/>
              <a:t>high statistical confidence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3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BEC6-3927-8C00-0096-2F23C093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51819"/>
            <a:ext cx="10018713" cy="41393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24389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</TotalTime>
  <Words>287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📊 A/B Test Report: Personalized vs. Generic Email Campaign </vt:lpstr>
      <vt:lpstr>Objective </vt:lpstr>
      <vt:lpstr>Test Setup </vt:lpstr>
      <vt:lpstr>Key Findings </vt:lpstr>
      <vt:lpstr>Business Implications </vt:lpstr>
      <vt:lpstr>Recommendations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Faizan Shaikh</dc:creator>
  <cp:lastModifiedBy>Faizan Shaikh</cp:lastModifiedBy>
  <cp:revision>1</cp:revision>
  <dcterms:created xsi:type="dcterms:W3CDTF">2025-08-21T15:04:37Z</dcterms:created>
  <dcterms:modified xsi:type="dcterms:W3CDTF">2025-08-21T15:16:22Z</dcterms:modified>
</cp:coreProperties>
</file>